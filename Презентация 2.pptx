
<file path=[Content_Types].xml><?xml version="1.0" encoding="utf-8"?>
<Types xmlns="http://schemas.openxmlformats.org/package/2006/content-types">
  <Default Extension="com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2" r:id="rId6"/>
    <p:sldId id="275" r:id="rId7"/>
    <p:sldId id="276" r:id="rId8"/>
    <p:sldId id="265" r:id="rId9"/>
    <p:sldId id="278" r:id="rId10"/>
    <p:sldId id="280" r:id="rId11"/>
    <p:sldId id="279" r:id="rId12"/>
    <p:sldId id="274" r:id="rId13"/>
    <p:sldId id="266" r:id="rId14"/>
    <p:sldId id="272" r:id="rId15"/>
    <p:sldId id="273" r:id="rId16"/>
    <p:sldId id="268" r:id="rId17"/>
    <p:sldId id="267" r:id="rId18"/>
    <p:sldId id="264" r:id="rId19"/>
    <p:sldId id="261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9662B-07FC-4607-B70F-C547184D43C7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DE9F3-230D-4421-9398-08F64D0AED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0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DE9F3-230D-4421-9398-08F64D0AED4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1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com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Arial"/>
              </a:defRPr>
            </a:pPr>
            <a:r>
              <a:rPr dirty="0"/>
              <a:t>Agent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30352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Ролдугин Илья </a:t>
            </a:r>
            <a:r>
              <a:rPr dirty="0" err="1"/>
              <a:t>Владимирович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 err="1"/>
              <a:t>Обучающийся</a:t>
            </a:r>
            <a:r>
              <a:rPr dirty="0"/>
              <a:t> 11 </a:t>
            </a:r>
            <a:r>
              <a:rPr dirty="0" err="1"/>
              <a:t>класса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ГБПОУ ВО "ГПК"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БАРЬЕРЫ СОВРЕМЕННЫХ ИИ-СИСТЕМ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66"/>
                </a:solidFill>
              </a:defRPr>
            </a:pPr>
            <a:r>
              <a:t>ИЗОЛЯЦИЯ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Нейросеть ограничена рамками диалога и не видит среду исполнения.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C00"/>
                </a:solidFill>
              </a:defRPr>
            </a:pPr>
            <a:r>
              <a:t>БЕЗ ОБРАТНОЙ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Невозможность запустить код и проверить результат на лету.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CCFF"/>
                </a:solidFill>
              </a:defRPr>
            </a:pPr>
            <a:r>
              <a:t>СТАТИЧНОСТЬ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Жесткий набор инструментов, который нельзя расширить в рантайме.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ЦЕЛЬ И ЗАДАЧИ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141414"/>
          </a:solidFill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4805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ГЛАВНАЯ ЦЕЛЬ</a:t>
            </a:r>
          </a:p>
          <a:p>
            <a:br>
              <a:rPr dirty="0"/>
            </a:br>
            <a:r>
              <a:rPr dirty="0" err="1">
                <a:solidFill>
                  <a:schemeClr val="bg1"/>
                </a:solidFill>
              </a:rPr>
              <a:t>Создание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системы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способной</a:t>
            </a:r>
            <a:r>
              <a:rPr dirty="0">
                <a:solidFill>
                  <a:schemeClr val="bg1"/>
                </a:solidFill>
              </a:rPr>
              <a:t> к </a:t>
            </a:r>
            <a:r>
              <a:rPr dirty="0" err="1">
                <a:solidFill>
                  <a:schemeClr val="bg1"/>
                </a:solidFill>
              </a:rPr>
              <a:t>автономному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проведению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крупных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архитектурных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изменений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через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цикл</a:t>
            </a:r>
            <a:r>
              <a:rPr dirty="0">
                <a:solidFill>
                  <a:schemeClr val="bg1"/>
                </a:solidFill>
              </a:rPr>
              <a:t> «</a:t>
            </a:r>
            <a:r>
              <a:rPr dirty="0" err="1">
                <a:solidFill>
                  <a:schemeClr val="bg1"/>
                </a:solidFill>
              </a:rPr>
              <a:t>песочница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тест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внедрение</a:t>
            </a:r>
            <a:r>
              <a:rPr dirty="0">
                <a:solidFill>
                  <a:schemeClr val="bg1"/>
                </a:solidFill>
              </a:rPr>
              <a:t>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828800"/>
            <a:ext cx="57607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ЗАДАЧИ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с Runtime-</a:t>
            </a:r>
            <a:r>
              <a:rPr dirty="0" err="1"/>
              <a:t>самомодификацией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мультиагентного</a:t>
            </a:r>
            <a:r>
              <a:rPr dirty="0"/>
              <a:t> </a:t>
            </a:r>
            <a:r>
              <a:rPr dirty="0" err="1"/>
              <a:t>конвейера</a:t>
            </a:r>
            <a:r>
              <a:rPr dirty="0"/>
              <a:t> (</a:t>
            </a:r>
            <a:r>
              <a:rPr dirty="0" err="1"/>
              <a:t>Архитектор</a:t>
            </a:r>
            <a:r>
              <a:rPr dirty="0"/>
              <a:t>, </a:t>
            </a:r>
            <a:r>
              <a:rPr dirty="0" err="1"/>
              <a:t>Ревьюер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среды</a:t>
            </a:r>
            <a:r>
              <a:rPr dirty="0"/>
              <a:t> </a:t>
            </a:r>
            <a:r>
              <a:rPr dirty="0" err="1"/>
              <a:t>исполнения</a:t>
            </a:r>
            <a:r>
              <a:rPr dirty="0"/>
              <a:t> (Sandbox)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адаптивного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с </a:t>
            </a:r>
            <a:r>
              <a:rPr dirty="0" err="1"/>
              <a:t>пресетами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ВЫБОР МОДЕЛИ: GEMINI 3.0 VS DEEPSEEK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1717"/>
              </p:ext>
            </p:extLst>
          </p:nvPr>
        </p:nvGraphicFramePr>
        <p:xfrm>
          <a:off x="1371600" y="18288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99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B4B4B4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FF99"/>
                          </a:solidFill>
                        </a:defRPr>
                      </a:pPr>
                      <a:r>
                        <a:t>Gemini 3.0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Качество кодирования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Превосходное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Мультимодальность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Нет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С</a:t>
                      </a:r>
                      <a:r>
                        <a:rPr dirty="0" err="1"/>
                        <a:t>криншоты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Размер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контекст</a:t>
                      </a:r>
                      <a:r>
                        <a:rPr lang="ru-RU" dirty="0" err="1"/>
                        <a:t>ного</a:t>
                      </a:r>
                      <a:r>
                        <a:rPr lang="ru-RU" dirty="0"/>
                        <a:t> окна (в токенах)</a:t>
                      </a:r>
                      <a:endParaRPr dirty="0"/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128 000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1 000 000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760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FF99"/>
                </a:solidFill>
              </a:defRPr>
            </a:pPr>
            <a:r>
              <a:t>Вердикт: Gemini 3.0 — наиболее стабильная база для автономного мультиагентного конвейера.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75809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RUNTIM</a:t>
            </a:r>
            <a:r>
              <a:rPr lang="en-US" dirty="0"/>
              <a:t>E-</a:t>
            </a:r>
            <a:r>
              <a:rPr lang="ru-RU" dirty="0"/>
              <a:t>САМОМОДИФИКАЦИИ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6464"/>
                </a:solidFill>
              </a:defRPr>
            </a:pPr>
            <a:r>
              <a:t>ИСХОДНОЕ ЯДРО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АДАПТИРОВАННОЕ ЯДРО</a:t>
            </a:r>
          </a:p>
        </p:txBody>
      </p:sp>
      <p:sp>
        <p:nvSpPr>
          <p:cNvPr id="7" name="Hexagon 6"/>
          <p:cNvSpPr/>
          <p:nvPr/>
        </p:nvSpPr>
        <p:spPr>
          <a:xfrm>
            <a:off x="5120640" y="2926080"/>
            <a:ext cx="2011680" cy="1371600"/>
          </a:xfrm>
          <a:prstGeom prst="hexagon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LLM CORE</a:t>
            </a:r>
          </a:p>
          <a:p>
            <a:r>
              <a:rPr dirty="0"/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13232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Агент анализирует структуру класса Chat и переписывает свои методы прямо в памяти.</a:t>
            </a:r>
            <a:br/>
            <a:r>
              <a:t>Результат: расширение функционала без перезагрузки системы.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21522C-A3E8-95F8-1118-59BF0A4C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7" y="2926080"/>
            <a:ext cx="4114799" cy="137147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233358-FC6A-FDDF-7E8F-D013E6BB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19" y="3168073"/>
            <a:ext cx="4089001" cy="1129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C9B52-F0D8-20BD-0077-DFE7CDF0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CE185C-9802-2CEF-6CB9-84BC88165B05}"/>
              </a:ext>
            </a:extLst>
          </p:cNvPr>
          <p:cNvSpPr txBox="1"/>
          <p:nvPr/>
        </p:nvSpPr>
        <p:spPr>
          <a:xfrm>
            <a:off x="457200" y="457200"/>
            <a:ext cx="75809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Arial"/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RUNTIM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E-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САМОМОДИФИКАЦИИ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BAA20-BA39-3131-23A4-249F2457E8EC}"/>
              </a:ext>
            </a:extLst>
          </p:cNvPr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89184-0448-FE09-D6F3-1ED290E86B24}"/>
              </a:ext>
            </a:extLst>
          </p:cNvPr>
          <p:cNvSpPr txBox="1"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646464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ИСХОДНОЕ ЯДРО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73414-A231-68A1-BEEB-BFB0FBAC5393}"/>
              </a:ext>
            </a:extLst>
          </p:cNvPr>
          <p:cNvSpPr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989B0-4702-8635-09D5-300B77F35952}"/>
              </a:ext>
            </a:extLst>
          </p:cNvPr>
          <p:cNvSpPr txBox="1"/>
          <p:nvPr/>
        </p:nvSpPr>
        <p:spPr>
          <a:xfrm>
            <a:off x="777240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99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АДАПТИРОВАННОЕ ЯДРО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B1C290C-D5AC-FFC2-AE45-2CF818E3F979}"/>
              </a:ext>
            </a:extLst>
          </p:cNvPr>
          <p:cNvSpPr/>
          <p:nvPr/>
        </p:nvSpPr>
        <p:spPr>
          <a:xfrm>
            <a:off x="5120640" y="2926080"/>
            <a:ext cx="2011680" cy="1371600"/>
          </a:xfrm>
          <a:prstGeom prst="hexagon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LLM CORE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A1D17919-D51F-43C4-AFB7-901643438EE9}"/>
              </a:ext>
            </a:extLst>
          </p:cNvPr>
          <p:cNvSpPr/>
          <p:nvPr/>
        </p:nvSpPr>
        <p:spPr>
          <a:xfrm>
            <a:off x="466344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9B564D6-DDD7-9802-76B9-F60478C5AFB8}"/>
              </a:ext>
            </a:extLst>
          </p:cNvPr>
          <p:cNvSpPr/>
          <p:nvPr/>
        </p:nvSpPr>
        <p:spPr>
          <a:xfrm>
            <a:off x="713232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AA0A2-07BA-A12F-0F04-C742EEC5E3A4}"/>
              </a:ext>
            </a:extLst>
          </p:cNvPr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C8C8C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Агент анализирует структуру класса Chat и переписывает свои методы прямо в памяти.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Результат: расширение функционала без перезагрузки системы.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FF36B3-AC52-C505-EFB6-FB8F0849D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24281"/>
            <a:ext cx="12199383" cy="406608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E54EA15-570E-E69B-0B3D-4B0A08F78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8241"/>
            <a:ext cx="12199384" cy="336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34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00CC2-2E15-07E9-071E-9EDE8515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E2494-5E19-FC17-0D03-C2EBFC865C3E}"/>
              </a:ext>
            </a:extLst>
          </p:cNvPr>
          <p:cNvSpPr txBox="1"/>
          <p:nvPr/>
        </p:nvSpPr>
        <p:spPr>
          <a:xfrm>
            <a:off x="457200" y="457200"/>
            <a:ext cx="75809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Arial"/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RUNTIM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E-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САМОМОДИФИКАЦИИ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BB9D83-B16D-DBCB-5FFD-E093BB7BA867}"/>
              </a:ext>
            </a:extLst>
          </p:cNvPr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15134-D441-DDFF-B53C-A012E8DEE085}"/>
              </a:ext>
            </a:extLst>
          </p:cNvPr>
          <p:cNvSpPr txBox="1"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646464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ИСХОДНОЕ ЯДРО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02597-6874-C1F8-1EBA-DEF536211CE7}"/>
              </a:ext>
            </a:extLst>
          </p:cNvPr>
          <p:cNvSpPr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DD062-1C9E-636C-AC90-2ACE4E0AC84C}"/>
              </a:ext>
            </a:extLst>
          </p:cNvPr>
          <p:cNvSpPr txBox="1"/>
          <p:nvPr/>
        </p:nvSpPr>
        <p:spPr>
          <a:xfrm>
            <a:off x="777240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99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АДАПТИРОВАННОЕ ЯДРО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73F92AE-A8BF-1EC5-B1AB-FFF51649E1F3}"/>
              </a:ext>
            </a:extLst>
          </p:cNvPr>
          <p:cNvSpPr/>
          <p:nvPr/>
        </p:nvSpPr>
        <p:spPr>
          <a:xfrm>
            <a:off x="5120640" y="2926080"/>
            <a:ext cx="2011680" cy="1371600"/>
          </a:xfrm>
          <a:prstGeom prst="hexagon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LLM CORE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4108182-D482-36E5-AD08-8162A3517CE1}"/>
              </a:ext>
            </a:extLst>
          </p:cNvPr>
          <p:cNvSpPr/>
          <p:nvPr/>
        </p:nvSpPr>
        <p:spPr>
          <a:xfrm>
            <a:off x="466344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7D7E8AF-5DC7-CFB3-3865-A5B92F5719B8}"/>
              </a:ext>
            </a:extLst>
          </p:cNvPr>
          <p:cNvSpPr/>
          <p:nvPr/>
        </p:nvSpPr>
        <p:spPr>
          <a:xfrm>
            <a:off x="713232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72037-5A7F-18C5-DBFD-41C68DA9B83D}"/>
              </a:ext>
            </a:extLst>
          </p:cNvPr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C8C8C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Агент анализирует структуру класса Chat и переписывает свои методы прямо в памяти.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Результат: расширение функционала без перезагрузки системы.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0099A3-77DB-CF14-CE2D-FD888FFA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7" y="2926080"/>
            <a:ext cx="4114799" cy="137147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E0A15F-2472-95CB-39E2-CA9FBE28C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19" y="3168073"/>
            <a:ext cx="4089001" cy="11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2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ИНТЕРФЕЙС И ПРЕСЕТЫ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66"/>
                </a:solidFill>
              </a:defRPr>
            </a:pPr>
            <a:r>
              <a:t>ПРЕСЕТЫ РОЛЕЙ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Разработчик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Архитектор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Ревьюер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Безопасный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УПРАВЛЕНИЕ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Параметры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Команды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Сбор контекста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Выбор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Offline-ready: интерфейс работает без внешних зависимостей.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2973CE-7742-ED6E-F683-966A9A28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645919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5FFB5D0-7360-4B2D-C82A-5C45074E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262C2C9-BE9E-8190-8D4D-39522301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285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6BB5356-FB5E-510F-4663-F7662426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901" y="3851450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5BD4345-73E7-C307-F096-D8BE8CBA5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269" y="3916218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7E589A9-571B-180D-D387-B76B0F88C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2266" y="4876800"/>
            <a:ext cx="5716932" cy="1341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D157C-0E82-4935-73F0-DE4C48BB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BDFFD-0278-4266-C5B4-CF5269AA0945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Arial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ИНТЕРФЕЙС И ПРЕСЕТЫ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8BEDB-1711-F701-D65C-102154469307}"/>
              </a:ext>
            </a:extLst>
          </p:cNvPr>
          <p:cNvSpPr/>
          <p:nvPr/>
        </p:nvSpPr>
        <p:spPr>
          <a:xfrm>
            <a:off x="3017520" y="7330687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646464"/>
                </a:solidFill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D977F-4608-DD3E-6FAF-D4C50B352479}"/>
              </a:ext>
            </a:extLst>
          </p:cNvPr>
          <p:cNvSpPr/>
          <p:nvPr/>
        </p:nvSpPr>
        <p:spPr>
          <a:xfrm>
            <a:off x="-3127409" y="158201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FB20C-F2B2-78C2-9380-18F70B36D0D1}"/>
              </a:ext>
            </a:extLst>
          </p:cNvPr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CC0066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ПРЕСЕТЫ РОЛЕЙ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Разработчик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Архитектор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Ревьюер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Безопасный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27BDF-AE9D-B636-ACC7-D2C37455F4C7}"/>
              </a:ext>
            </a:extLst>
          </p:cNvPr>
          <p:cNvSpPr/>
          <p:nvPr/>
        </p:nvSpPr>
        <p:spPr>
          <a:xfrm>
            <a:off x="12597595" y="170688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8A780-2139-E79A-B611-CD4BFF331496}"/>
              </a:ext>
            </a:extLst>
          </p:cNvPr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99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УПРАВЛЕНИЕ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Параметры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Команды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Сбор контекста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Выбор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61CA2-2744-4D22-0754-1FCB75E4668A}"/>
              </a:ext>
            </a:extLst>
          </p:cNvPr>
          <p:cNvSpPr txBox="1"/>
          <p:nvPr/>
        </p:nvSpPr>
        <p:spPr>
          <a:xfrm>
            <a:off x="3069256" y="7592266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i="1">
                <a:solidFill>
                  <a:srgbClr val="B4B4B4"/>
                </a:solidFill>
              </a:defRPr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Offline-ready: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интерфейс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работает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без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внешних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зависимостей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8C5BB9-DFD9-21CD-B01E-58C2202E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308" y="3182925"/>
            <a:ext cx="3661378" cy="173715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83285D-E2FC-D56C-32CE-F61C64FE9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4" y="-1"/>
            <a:ext cx="3001746" cy="54505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7A6D7F-AF2D-BFEA-6649-1372ED527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156" y="23187"/>
            <a:ext cx="2972446" cy="550633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D02BBAB-3B29-FC5B-F03B-EBA40EB63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2" y="42684"/>
            <a:ext cx="3090509" cy="568906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AAFC821-3652-EFC3-4D0F-E4BA0055C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111" y="11314"/>
            <a:ext cx="3142115" cy="584549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9F5F183-E23C-A5B1-2A19-4FFD7735B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6463" y="7030868"/>
            <a:ext cx="6648594" cy="15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3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BE406-17AA-6E40-A32E-72B5A4F4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46E43-2E9C-9C8D-E20F-3FAF87119F5A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Arial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ИНТЕРФЕЙС И ПРЕСЕТЫ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DDBDE-25C7-22B3-04DD-82B672A93BE6}"/>
              </a:ext>
            </a:extLst>
          </p:cNvPr>
          <p:cNvSpPr/>
          <p:nvPr/>
        </p:nvSpPr>
        <p:spPr>
          <a:xfrm>
            <a:off x="3017520" y="7330687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646464"/>
                </a:solidFill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25335-7A34-9E39-B085-402A07EFB507}"/>
              </a:ext>
            </a:extLst>
          </p:cNvPr>
          <p:cNvSpPr/>
          <p:nvPr/>
        </p:nvSpPr>
        <p:spPr>
          <a:xfrm>
            <a:off x="-3127409" y="158201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F6C93-3F3B-6C10-2611-DCC09B13659A}"/>
              </a:ext>
            </a:extLst>
          </p:cNvPr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CC0066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ПРЕСЕТЫ РОЛЕЙ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Разработчик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Архитектор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Ревьюер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Безопасный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CAA3A-E457-2CFF-7C49-BFC386D752AA}"/>
              </a:ext>
            </a:extLst>
          </p:cNvPr>
          <p:cNvSpPr/>
          <p:nvPr/>
        </p:nvSpPr>
        <p:spPr>
          <a:xfrm>
            <a:off x="12597595" y="170688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51F7C-CC37-1204-D801-79036B872E55}"/>
              </a:ext>
            </a:extLst>
          </p:cNvPr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99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УПРАВЛЕНИЕ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Параметры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Команды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Сбор контекста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Выбор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A4D69-D753-295F-B826-2346F448369A}"/>
              </a:ext>
            </a:extLst>
          </p:cNvPr>
          <p:cNvSpPr txBox="1"/>
          <p:nvPr/>
        </p:nvSpPr>
        <p:spPr>
          <a:xfrm>
            <a:off x="3069256" y="7592266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i="1">
                <a:solidFill>
                  <a:srgbClr val="B4B4B4"/>
                </a:solidFill>
              </a:defRPr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Offline-ready: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интерфейс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работает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без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внешних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зависимостей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9EA8B8-7753-0CF3-0043-7E1E324E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24"/>
            <a:ext cx="12192000" cy="578452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20A3BC1-8FFF-198E-E9A8-5C8675263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8122" y="-416561"/>
            <a:ext cx="3001746" cy="54505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676305F-EBE7-85D3-46C5-63F9B6C97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358" y="-6238031"/>
            <a:ext cx="2972446" cy="550633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EE9F053-6C6D-502E-8F10-6A027C7BE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97" y="-6238031"/>
            <a:ext cx="3090509" cy="568906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C120ACE-1BD7-8D4D-16B7-071D66A6D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8308" y="-110606"/>
            <a:ext cx="3142115" cy="584549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3C7F029-5531-48CB-EDD3-7DC420F21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4155" y="7443935"/>
            <a:ext cx="6648594" cy="15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7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63796-1046-78AB-993C-6AD63AC7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F903B9-70AE-90F5-85EC-21F6E0A74791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Arial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ИНТЕРФЕЙС И ПРЕСЕТЫ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856F68-041C-84ED-7782-50DBB55869A0}"/>
              </a:ext>
            </a:extLst>
          </p:cNvPr>
          <p:cNvSpPr/>
          <p:nvPr/>
        </p:nvSpPr>
        <p:spPr>
          <a:xfrm>
            <a:off x="3200400" y="1645920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646464"/>
                </a:solidFill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A650B-166D-0C0B-C753-5BF2CF3FBBDA}"/>
              </a:ext>
            </a:extLst>
          </p:cNvPr>
          <p:cNvSpPr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7B358-A52E-37F3-F687-B8E16B0414DC}"/>
              </a:ext>
            </a:extLst>
          </p:cNvPr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CC0066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ПРЕСЕТЫ РОЛЕЙ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Разработчик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Архитектор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Ревьюер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Безопасный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D1DA5-DD67-BEDD-A23E-59194A6A8355}"/>
              </a:ext>
            </a:extLst>
          </p:cNvPr>
          <p:cNvSpPr/>
          <p:nvPr/>
        </p:nvSpPr>
        <p:spPr>
          <a:xfrm>
            <a:off x="91440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45093-5531-9CE7-4F02-394D48526A31}"/>
              </a:ext>
            </a:extLst>
          </p:cNvPr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99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УПРАВЛЕНИЕ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Параметры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Команды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Сбор контекста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C8C8C8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Выбор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83FF6-5F9F-A685-A52A-71F45F7C087A}"/>
              </a:ext>
            </a:extLst>
          </p:cNvPr>
          <p:cNvSpPr txBox="1"/>
          <p:nvPr/>
        </p:nvSpPr>
        <p:spPr>
          <a:xfrm>
            <a:off x="3200400" y="63093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i="1">
                <a:solidFill>
                  <a:srgbClr val="B4B4B4"/>
                </a:solidFill>
              </a:defRPr>
            </a:pPr>
            <a:r>
              <a:rPr kumimoji="0" sz="1600" b="0" i="1" u="none" strike="noStrike" kern="1200" cap="none" spc="0" normalizeH="0" baseline="0" noProof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Offline-ready: интерфейс работает без внешних зависимостей.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EEF1A9-069B-03F1-9C29-383712869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645919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476665C-C0ED-CF6A-2F00-55E000F0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2EBA13-AA06-BECA-B896-08AB25BBD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285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4569A23-66F6-8F3E-1D2B-9D6875ED8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901" y="3851450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62F353B-4F91-D7E5-D601-A17C1A464B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269" y="3916218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A79250C-7BC1-12BD-1362-4D8EF75B0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2266" y="4876800"/>
            <a:ext cx="5716932" cy="134111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DD33A87-BD46-BBB6-6316-06E362546A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0686" y="7024713"/>
            <a:ext cx="12302836" cy="69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48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5A6FB-230B-C7C5-F045-B31B0A34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47A8A-2DCF-E23F-32D8-82FDB5862B14}"/>
              </a:ext>
            </a:extLst>
          </p:cNvPr>
          <p:cNvSpPr txBox="1"/>
          <p:nvPr/>
        </p:nvSpPr>
        <p:spPr>
          <a:xfrm>
            <a:off x="362932" y="-9285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ИНТЕРФЕЙС И ПРЕСЕТЫ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CB863-1AEC-8CC3-D1A7-9E6357184ED3}"/>
              </a:ext>
            </a:extLst>
          </p:cNvPr>
          <p:cNvSpPr/>
          <p:nvPr/>
        </p:nvSpPr>
        <p:spPr>
          <a:xfrm>
            <a:off x="3108960" y="-4694293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87330-EE69-6711-58F1-6DB4F02D360E}"/>
              </a:ext>
            </a:extLst>
          </p:cNvPr>
          <p:cNvSpPr/>
          <p:nvPr/>
        </p:nvSpPr>
        <p:spPr>
          <a:xfrm>
            <a:off x="-3015672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3F5A0-A513-D6D6-832C-520CEC9FB097}"/>
              </a:ext>
            </a:extLst>
          </p:cNvPr>
          <p:cNvSpPr txBox="1"/>
          <p:nvPr/>
        </p:nvSpPr>
        <p:spPr>
          <a:xfrm>
            <a:off x="-2924232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66"/>
                </a:solidFill>
              </a:defRPr>
            </a:pPr>
            <a:r>
              <a:t>ПРЕСЕТЫ РОЛЕЙ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Разработчик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Архитектор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Ревьюер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Безопасный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B736D-AAC9-FC8C-373B-DB1BE14473FB}"/>
              </a:ext>
            </a:extLst>
          </p:cNvPr>
          <p:cNvSpPr/>
          <p:nvPr/>
        </p:nvSpPr>
        <p:spPr>
          <a:xfrm>
            <a:off x="12289284" y="1495091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56BFE-0F8C-0FF6-7918-AD1E4409A70C}"/>
              </a:ext>
            </a:extLst>
          </p:cNvPr>
          <p:cNvSpPr txBox="1"/>
          <p:nvPr/>
        </p:nvSpPr>
        <p:spPr>
          <a:xfrm>
            <a:off x="12380724" y="1677971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УПРАВЛЕНИЕ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Параметры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Команды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Сбор контекста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Выбор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2A385-39E5-32C1-10B2-029893AD4492}"/>
              </a:ext>
            </a:extLst>
          </p:cNvPr>
          <p:cNvSpPr txBox="1"/>
          <p:nvPr/>
        </p:nvSpPr>
        <p:spPr>
          <a:xfrm>
            <a:off x="3457575" y="7385685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rPr dirty="0"/>
              <a:t>Offline-ready: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B206A7-51D4-02D9-9D68-398AD6148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72" y="-2857260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BFC580-BA60-4BB0-1203-CEC23973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5192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49CD4DF-80C8-761D-FB29-1F11CD2A7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7587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54BD1A7-788B-8E9F-0F47-453DAA2BB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0185" y="3700621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C53F531-F3E2-C626-4DD3-FE857CEB2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96553" y="3765389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F03108B-9111-B8A8-8FAB-51DFCCB32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686" y="-2931249"/>
            <a:ext cx="12281852" cy="288116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3244A06-8BF1-7AED-623F-892DBC3CB8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9375" y="-23094"/>
            <a:ext cx="12302836" cy="69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5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1BC4EE-DE99-3ED7-EC01-3B059695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344"/>
            <a:ext cx="12192000" cy="31692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05B04A-9299-B4EC-0CA1-93A8299D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1989"/>
            <a:ext cx="12192000" cy="1966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1753D-96FD-9E74-AFAB-A83B1385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D19122-F0A1-9FC5-DDD8-5D39DE865DEA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B7EA88-B22D-4E8B-0BCF-C5EFCDBC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86561"/>
            <a:ext cx="9534648" cy="21674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AABDEC-21DD-3C3B-A182-04A37C34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618" y="3354013"/>
            <a:ext cx="9901381" cy="350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7BAD8-4F59-0188-505A-0673DB4C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0C626-445B-5F46-C300-D344FD4EB039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B201C8-9593-E9B1-8A59-B70A747F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806"/>
            <a:ext cx="12192000" cy="57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5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БЕЗОПАСНОСТЬ: ACL INTERSECTION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201168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dirty="0"/>
              <a:t>ЗАПРОС</a:t>
            </a:r>
            <a:r>
              <a:rPr lang="en-US" dirty="0"/>
              <a:t> </a:t>
            </a:r>
            <a:r>
              <a:rPr dirty="0"/>
              <a:t>АГЕНТА</a:t>
            </a:r>
          </a:p>
        </p:txBody>
      </p:sp>
      <p:sp>
        <p:nvSpPr>
          <p:cNvPr id="4" name="Trapezoid 3"/>
          <p:cNvSpPr/>
          <p:nvPr/>
        </p:nvSpPr>
        <p:spPr>
          <a:xfrm rot="5400000">
            <a:off x="3200400" y="2286000"/>
            <a:ext cx="1828800" cy="2011680"/>
          </a:xfrm>
          <a:prstGeom prst="trapezoid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ACL РЕЖИМА</a:t>
            </a:r>
          </a:p>
        </p:txBody>
      </p:sp>
      <p:sp>
        <p:nvSpPr>
          <p:cNvPr id="6" name="Trapezoid 5"/>
          <p:cNvSpPr/>
          <p:nvPr/>
        </p:nvSpPr>
        <p:spPr>
          <a:xfrm rot="5400000">
            <a:off x="5943600" y="2286000"/>
            <a:ext cx="1828800" cy="2011680"/>
          </a:xfrm>
          <a:prstGeom prst="trapezoid">
            <a:avLst/>
          </a:prstGeom>
          <a:solidFill>
            <a:srgbClr val="660033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ACL ПРЕСЕТА</a:t>
            </a:r>
          </a:p>
        </p:txBody>
      </p:sp>
      <p:sp>
        <p:nvSpPr>
          <p:cNvPr id="8" name="Hexagon 7"/>
          <p:cNvSpPr/>
          <p:nvPr/>
        </p:nvSpPr>
        <p:spPr>
          <a:xfrm>
            <a:off x="8961120" y="2743200"/>
            <a:ext cx="2377440" cy="1097280"/>
          </a:xfrm>
          <a:prstGeom prst="hexagon">
            <a:avLst/>
          </a:prstGeom>
          <a:solidFill>
            <a:srgbClr val="005028"/>
          </a:solidFill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БЕЗОПАСНЫЙ</a:t>
            </a:r>
          </a:p>
          <a:p>
            <a:r>
              <a:t>ЗАПУСК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108960"/>
            <a:ext cx="7315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29200" y="3108960"/>
            <a:ext cx="91440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772400" y="3108960"/>
            <a:ext cx="11887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9191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C00"/>
                </a:solidFill>
              </a:defRPr>
            </a:pPr>
            <a:r>
              <a:t>ОБЪЕКТЫ ЗАЩИТЫ: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Ключи API и конфигурации (keys/)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Ядро системы (agent.py, start.py)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Системные директории (.git, .venv, .pytest_cache)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самомодификация</a:t>
            </a:r>
            <a:r>
              <a:rPr dirty="0"/>
              <a:t> </a:t>
            </a:r>
            <a:r>
              <a:rPr dirty="0" err="1"/>
              <a:t>невозможна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строгого</a:t>
            </a:r>
            <a:r>
              <a:rPr dirty="0"/>
              <a:t> </a:t>
            </a:r>
            <a:r>
              <a:rPr dirty="0" err="1"/>
              <a:t>иерархического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ПЕРСОНАЛИЗАЦИЯ И ПАМЯТЬ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ВВОД</a:t>
            </a:r>
            <a:r>
              <a:rPr lang="en-US" dirty="0"/>
              <a:t> </a:t>
            </a:r>
            <a:r>
              <a:rPr dirty="0"/>
              <a:t>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ИИ-АНАЛИЗ</a:t>
            </a:r>
            <a:r>
              <a:rPr lang="en-US" dirty="0"/>
              <a:t> </a:t>
            </a:r>
            <a:r>
              <a:rPr dirty="0"/>
              <a:t>КОНТЕКСТА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USER_PROFILE</a:t>
            </a:r>
          </a:p>
          <a:p>
            <a:r>
              <a:t>(Долгосрочная память)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658368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0515600" cy="2011680"/>
          </a:xfrm>
          <a:prstGeom prst="roundRect">
            <a:avLst/>
          </a:prstGeom>
          <a:solidFill>
            <a:srgbClr val="191919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Личные предпочтения и стиль взаимодействия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Постоянные инструкции и правила (коммиты, форматирование)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Профессиональный контекст (текущие проекты, стек технологий)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t>Обеспечение непрерывности контекста между сессиями и задачами.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64736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ИНСТРУМЕНТЫ </a:t>
            </a:r>
            <a:r>
              <a:rPr lang="ru-RU" dirty="0"/>
              <a:t>ВЗАИМОДЕЙСТВИЯ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66CCFF"/>
                </a:solidFill>
              </a:defRPr>
            </a:pPr>
            <a:r>
              <a:t>BROWSER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Автономная навигация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Взаимодействие с веб-DOM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Извлечение данных (Scraping)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Заполнение веб-форм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9966FF"/>
                </a:solidFill>
              </a:defRPr>
            </a:pPr>
            <a:r>
              <a:t>COMPUTER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курсором</a:t>
            </a:r>
            <a:r>
              <a:rPr dirty="0"/>
              <a:t> и </a:t>
            </a:r>
            <a:r>
              <a:rPr dirty="0" err="1"/>
              <a:t>вводом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скриншотов</a:t>
            </a:r>
            <a:r>
              <a:rPr dirty="0"/>
              <a:t>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стола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WinAPI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утилит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МУЛЬТИАГЕНТНЫЙ КОНВЕЙЕР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99FF"/>
                </a:solidFill>
              </a:defRPr>
            </a:pPr>
            <a:r>
              <a:rPr dirty="0"/>
              <a:t>АРХИТЕКТОР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Декомпозиция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чатами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Финальный</a:t>
            </a:r>
            <a:r>
              <a:rPr dirty="0"/>
              <a:t> </a:t>
            </a:r>
            <a:r>
              <a:rPr dirty="0" err="1"/>
              <a:t>деплой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ИСПОЛНИТЕЛЬ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Написание</a:t>
            </a:r>
            <a:r>
              <a:rPr dirty="0"/>
              <a:t> </a:t>
            </a:r>
            <a:r>
              <a:rPr dirty="0" err="1"/>
              <a:t>кода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Работа</a:t>
            </a:r>
            <a:r>
              <a:rPr dirty="0"/>
              <a:t> в Sandbox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РЕВЬЮЕР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логики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уязвимостей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ИТОГИ И ВЕКТОР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191919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99FF"/>
                </a:solidFill>
              </a:defRPr>
            </a:pPr>
            <a:r>
              <a:rPr dirty="0"/>
              <a:t>БУДУЩИЕ ЦЕЛИ:</a:t>
            </a:r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Автономный</a:t>
            </a:r>
            <a:r>
              <a:rPr dirty="0"/>
              <a:t> </a:t>
            </a:r>
            <a:r>
              <a:rPr dirty="0" err="1"/>
              <a:t>багфикс</a:t>
            </a:r>
            <a:r>
              <a:rPr dirty="0"/>
              <a:t> и </a:t>
            </a:r>
            <a:r>
              <a:rPr dirty="0" err="1"/>
              <a:t>глубокий</a:t>
            </a:r>
            <a:r>
              <a:rPr dirty="0"/>
              <a:t> </a:t>
            </a:r>
            <a:r>
              <a:rPr dirty="0" err="1"/>
              <a:t>рефакторинг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HTML-</a:t>
            </a:r>
            <a:r>
              <a:rPr dirty="0" err="1"/>
              <a:t>виджетов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по-настоящему</a:t>
            </a:r>
            <a:r>
              <a:rPr dirty="0"/>
              <a:t> </a:t>
            </a:r>
            <a:r>
              <a:rPr dirty="0" err="1"/>
              <a:t>самоэволюционирующего</a:t>
            </a:r>
            <a:r>
              <a:rPr dirty="0"/>
              <a:t> ПО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402" y="1828800"/>
            <a:ext cx="53035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/>
              <a:t>ПРОЕКТ НА GITHUB:</a:t>
            </a: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r>
              <a:rPr lang="en-US" dirty="0"/>
              <a:t>https://</a:t>
            </a:r>
            <a:r>
              <a:rPr dirty="0"/>
              <a:t>github.com/ilia202015/AgentAI</a:t>
            </a:r>
            <a:endParaRPr lang="ru-RU"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CE386A-8BE7-0F58-510B-24AFB8D7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764" y="2156459"/>
            <a:ext cx="2576139" cy="2576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625</Words>
  <Application>Microsoft Office PowerPoint</Application>
  <PresentationFormat>Широкоэкранный</PresentationFormat>
  <Paragraphs>179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илья ролдугин</cp:lastModifiedBy>
  <cp:revision>8</cp:revision>
  <dcterms:created xsi:type="dcterms:W3CDTF">2013-01-27T09:14:16Z</dcterms:created>
  <dcterms:modified xsi:type="dcterms:W3CDTF">2026-03-18T19:41:15Z</dcterms:modified>
  <cp:category/>
</cp:coreProperties>
</file>