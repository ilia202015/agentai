
<file path=[Content_Types].xml><?xml version="1.0" encoding="utf-8"?>
<Types xmlns="http://schemas.openxmlformats.org/package/2006/content-types">
  <Default Extension="com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2" r:id="rId6"/>
    <p:sldId id="265" r:id="rId7"/>
    <p:sldId id="274" r:id="rId8"/>
    <p:sldId id="266" r:id="rId9"/>
    <p:sldId id="272" r:id="rId10"/>
    <p:sldId id="273" r:id="rId11"/>
    <p:sldId id="268" r:id="rId12"/>
    <p:sldId id="267" r:id="rId13"/>
    <p:sldId id="264" r:id="rId14"/>
    <p:sldId id="261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301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A9662B-07FC-4607-B70F-C547184D43C7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2DE9F3-230D-4421-9398-08F64D0AED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0705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DE9F3-230D-4421-9398-08F64D0AED44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0919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com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400" b="1">
                <a:solidFill>
                  <a:srgbClr val="FFFFFF"/>
                </a:solidFill>
                <a:latin typeface="Arial"/>
              </a:defRPr>
            </a:pPr>
            <a:r>
              <a:rPr dirty="0"/>
              <a:t>Agent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5303520"/>
            <a:ext cx="4114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969696"/>
                </a:solidFill>
                <a:latin typeface="Arial"/>
              </a:defRPr>
            </a:pPr>
            <a:r>
              <a:rPr dirty="0"/>
              <a:t>Ролдугин Илья </a:t>
            </a:r>
            <a:r>
              <a:rPr dirty="0" err="1"/>
              <a:t>Владимирович</a:t>
            </a:r>
            <a:endParaRPr dirty="0"/>
          </a:p>
          <a:p>
            <a:pPr algn="r">
              <a:defRPr sz="1600">
                <a:solidFill>
                  <a:srgbClr val="969696"/>
                </a:solidFill>
                <a:latin typeface="Arial"/>
              </a:defRPr>
            </a:pPr>
            <a:r>
              <a:rPr dirty="0" err="1"/>
              <a:t>Обучающийся</a:t>
            </a:r>
            <a:r>
              <a:rPr dirty="0"/>
              <a:t> 11 </a:t>
            </a:r>
            <a:r>
              <a:rPr dirty="0" err="1"/>
              <a:t>класса</a:t>
            </a:r>
            <a:endParaRPr dirty="0"/>
          </a:p>
          <a:p>
            <a:pPr algn="r">
              <a:defRPr sz="1600">
                <a:solidFill>
                  <a:srgbClr val="969696"/>
                </a:solidFill>
                <a:latin typeface="Arial"/>
              </a:defRPr>
            </a:pPr>
            <a:r>
              <a:rPr dirty="0"/>
              <a:t>ГБПОУ ВО "ГПК"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БАРЬЕРЫ СОВРЕМЕННЫХ ИИ-СИСТЕМ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3474720" cy="365760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FF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6666"/>
                </a:solidFill>
              </a:defRPr>
            </a:pPr>
            <a:r>
              <a:t>ИЗОЛЯЦИЯ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t>Нейросеть ограничена рамками диалога и не видит среду исполнения.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828800"/>
            <a:ext cx="3474720" cy="365760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80560" y="21031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CC00"/>
                </a:solidFill>
              </a:defRPr>
            </a:pPr>
            <a:r>
              <a:t>БЕЗ ОБРАТНОЙ СВЯЗИ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2004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t>Невозможность запустить код и проверить результат на лету.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828800"/>
            <a:ext cx="3474720" cy="365760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66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0" y="21031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6CCFF"/>
                </a:solidFill>
              </a:defRPr>
            </a:pPr>
            <a:r>
              <a:t>СТАТИЧНОСТЬ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32004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t>Жесткий набор инструментов, который нельзя расширить в рантайме.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ЦЕЛЬ И ЗАДАЧИ ПРОЕКТА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5029200" cy="4114800"/>
          </a:xfrm>
          <a:prstGeom prst="rect">
            <a:avLst/>
          </a:prstGeom>
          <a:solidFill>
            <a:srgbClr val="141414"/>
          </a:solidFill>
          <a:ln w="381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448056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99FF"/>
                </a:solidFill>
              </a:defRPr>
            </a:pPr>
            <a:r>
              <a:rPr dirty="0"/>
              <a:t>ГЛАВНАЯ ЦЕЛЬ</a:t>
            </a:r>
          </a:p>
          <a:p>
            <a:br>
              <a:rPr dirty="0"/>
            </a:br>
            <a:r>
              <a:rPr dirty="0" err="1">
                <a:solidFill>
                  <a:schemeClr val="bg1"/>
                </a:solidFill>
              </a:rPr>
              <a:t>Создание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системы</a:t>
            </a:r>
            <a:r>
              <a:rPr dirty="0">
                <a:solidFill>
                  <a:schemeClr val="bg1"/>
                </a:solidFill>
              </a:rPr>
              <a:t>, </a:t>
            </a:r>
            <a:r>
              <a:rPr dirty="0" err="1">
                <a:solidFill>
                  <a:schemeClr val="bg1"/>
                </a:solidFill>
              </a:rPr>
              <a:t>способной</a:t>
            </a:r>
            <a:r>
              <a:rPr dirty="0">
                <a:solidFill>
                  <a:schemeClr val="bg1"/>
                </a:solidFill>
              </a:rPr>
              <a:t> к </a:t>
            </a:r>
            <a:r>
              <a:rPr dirty="0" err="1">
                <a:solidFill>
                  <a:schemeClr val="bg1"/>
                </a:solidFill>
              </a:rPr>
              <a:t>автономному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проведению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крупных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архитектурных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изменений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через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цикл</a:t>
            </a:r>
            <a:r>
              <a:rPr dirty="0">
                <a:solidFill>
                  <a:schemeClr val="bg1"/>
                </a:solidFill>
              </a:rPr>
              <a:t> «</a:t>
            </a:r>
            <a:r>
              <a:rPr dirty="0" err="1">
                <a:solidFill>
                  <a:schemeClr val="bg1"/>
                </a:solidFill>
              </a:rPr>
              <a:t>песочница</a:t>
            </a:r>
            <a:r>
              <a:rPr dirty="0">
                <a:solidFill>
                  <a:schemeClr val="bg1"/>
                </a:solidFill>
              </a:rPr>
              <a:t> → </a:t>
            </a:r>
            <a:r>
              <a:rPr dirty="0" err="1">
                <a:solidFill>
                  <a:schemeClr val="bg1"/>
                </a:solidFill>
              </a:rPr>
              <a:t>тест</a:t>
            </a:r>
            <a:r>
              <a:rPr dirty="0">
                <a:solidFill>
                  <a:schemeClr val="bg1"/>
                </a:solidFill>
              </a:rPr>
              <a:t> → </a:t>
            </a:r>
            <a:r>
              <a:rPr dirty="0" err="1">
                <a:solidFill>
                  <a:schemeClr val="bg1"/>
                </a:solidFill>
              </a:rPr>
              <a:t>внедрение</a:t>
            </a:r>
            <a:r>
              <a:rPr dirty="0">
                <a:solidFill>
                  <a:schemeClr val="bg1"/>
                </a:solidFill>
              </a:rPr>
              <a:t>».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1828800"/>
            <a:ext cx="5760720" cy="4114800"/>
          </a:xfrm>
          <a:prstGeom prst="rect">
            <a:avLst/>
          </a:prstGeom>
          <a:solidFill>
            <a:srgbClr val="141414"/>
          </a:solidFill>
          <a:ln w="127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0" y="210312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99FF"/>
                </a:solidFill>
              </a:defRPr>
            </a:pPr>
            <a:r>
              <a:rPr dirty="0"/>
              <a:t>ЗАДАЧИ</a:t>
            </a:r>
          </a:p>
          <a:p>
            <a:pPr>
              <a:spcBef>
                <a:spcPts val="1000"/>
              </a:spcBef>
              <a:defRPr sz="1800">
                <a:solidFill>
                  <a:srgbClr val="C8C8C8"/>
                </a:solidFill>
              </a:defRPr>
            </a:pPr>
            <a:r>
              <a:rPr dirty="0"/>
              <a:t>• </a:t>
            </a:r>
            <a:r>
              <a:rPr dirty="0" err="1"/>
              <a:t>Разработка</a:t>
            </a:r>
            <a:r>
              <a:rPr dirty="0"/>
              <a:t> </a:t>
            </a:r>
            <a:r>
              <a:rPr dirty="0" err="1"/>
              <a:t>ядра</a:t>
            </a:r>
            <a:r>
              <a:rPr dirty="0"/>
              <a:t> с Runtime-</a:t>
            </a:r>
            <a:r>
              <a:rPr dirty="0" err="1"/>
              <a:t>самомодификацией</a:t>
            </a:r>
            <a:endParaRPr dirty="0"/>
          </a:p>
          <a:p>
            <a:pPr>
              <a:spcBef>
                <a:spcPts val="1000"/>
              </a:spcBef>
              <a:defRPr sz="1800">
                <a:solidFill>
                  <a:srgbClr val="C8C8C8"/>
                </a:solidFill>
              </a:defRPr>
            </a:pPr>
            <a:r>
              <a:rPr dirty="0"/>
              <a:t>• </a:t>
            </a:r>
            <a:r>
              <a:rPr dirty="0" err="1"/>
              <a:t>Создание</a:t>
            </a:r>
            <a:r>
              <a:rPr dirty="0"/>
              <a:t> </a:t>
            </a:r>
            <a:r>
              <a:rPr dirty="0" err="1"/>
              <a:t>мультиагентного</a:t>
            </a:r>
            <a:r>
              <a:rPr dirty="0"/>
              <a:t> </a:t>
            </a:r>
            <a:r>
              <a:rPr dirty="0" err="1"/>
              <a:t>конвейера</a:t>
            </a:r>
            <a:r>
              <a:rPr dirty="0"/>
              <a:t> (</a:t>
            </a:r>
            <a:r>
              <a:rPr dirty="0" err="1"/>
              <a:t>Архитектор</a:t>
            </a:r>
            <a:r>
              <a:rPr dirty="0"/>
              <a:t>, </a:t>
            </a:r>
            <a:r>
              <a:rPr dirty="0" err="1"/>
              <a:t>Ревьюер</a:t>
            </a:r>
            <a:r>
              <a:rPr dirty="0"/>
              <a:t>)</a:t>
            </a:r>
          </a:p>
          <a:p>
            <a:pPr>
              <a:spcBef>
                <a:spcPts val="1000"/>
              </a:spcBef>
              <a:defRPr sz="1800">
                <a:solidFill>
                  <a:srgbClr val="C8C8C8"/>
                </a:solidFill>
              </a:defRPr>
            </a:pPr>
            <a:r>
              <a:rPr dirty="0"/>
              <a:t>• </a:t>
            </a:r>
            <a:r>
              <a:rPr dirty="0" err="1"/>
              <a:t>Реализация</a:t>
            </a:r>
            <a:r>
              <a:rPr dirty="0"/>
              <a:t> </a:t>
            </a:r>
            <a:r>
              <a:rPr dirty="0" err="1"/>
              <a:t>защищенной</a:t>
            </a:r>
            <a:r>
              <a:rPr dirty="0"/>
              <a:t> </a:t>
            </a:r>
            <a:r>
              <a:rPr dirty="0" err="1"/>
              <a:t>среды</a:t>
            </a:r>
            <a:r>
              <a:rPr dirty="0"/>
              <a:t> </a:t>
            </a:r>
            <a:r>
              <a:rPr dirty="0" err="1"/>
              <a:t>исполнения</a:t>
            </a:r>
            <a:r>
              <a:rPr dirty="0"/>
              <a:t> (Sandbox)</a:t>
            </a:r>
          </a:p>
          <a:p>
            <a:pPr>
              <a:spcBef>
                <a:spcPts val="1000"/>
              </a:spcBef>
              <a:defRPr sz="1800">
                <a:solidFill>
                  <a:srgbClr val="C8C8C8"/>
                </a:solidFill>
              </a:defRPr>
            </a:pPr>
            <a:r>
              <a:rPr dirty="0"/>
              <a:t>• </a:t>
            </a:r>
            <a:r>
              <a:rPr dirty="0" err="1"/>
              <a:t>Разработка</a:t>
            </a:r>
            <a:r>
              <a:rPr dirty="0"/>
              <a:t> </a:t>
            </a:r>
            <a:r>
              <a:rPr dirty="0" err="1"/>
              <a:t>адаптивного</a:t>
            </a:r>
            <a:r>
              <a:rPr dirty="0"/>
              <a:t> </a:t>
            </a:r>
            <a:r>
              <a:rPr dirty="0" err="1"/>
              <a:t>интерфейса</a:t>
            </a:r>
            <a:r>
              <a:rPr dirty="0"/>
              <a:t> с </a:t>
            </a:r>
            <a:r>
              <a:rPr dirty="0" err="1"/>
              <a:t>пресетами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ВЫБОР МОДЕЛИ: GEMINI 3.0 VS DEEPSEEK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471717"/>
              </p:ext>
            </p:extLst>
          </p:nvPr>
        </p:nvGraphicFramePr>
        <p:xfrm>
          <a:off x="1371600" y="1828800"/>
          <a:ext cx="94183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99FF"/>
                          </a:solidFill>
                        </a:defRPr>
                      </a:pPr>
                      <a:r>
                        <a:t>Характеристика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B4B4B4"/>
                          </a:solidFill>
                        </a:defRPr>
                      </a:pPr>
                      <a:r>
                        <a:t>DeepSeek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FF99"/>
                          </a:solidFill>
                        </a:defRPr>
                      </a:pPr>
                      <a:r>
                        <a:t>Gemini 3.0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FFFFFF"/>
                          </a:solidFill>
                        </a:defRPr>
                      </a:pPr>
                      <a:r>
                        <a:t>Качество кодирования</a:t>
                      </a:r>
                    </a:p>
                  </a:txBody>
                  <a:tcPr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FFFFFF"/>
                          </a:solidFill>
                        </a:defRPr>
                      </a:pPr>
                      <a:r>
                        <a:t>Среднее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Превосходное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FFFFFF"/>
                          </a:solidFill>
                        </a:defRPr>
                      </a:pPr>
                      <a:r>
                        <a:t>Мультимодальность</a:t>
                      </a:r>
                    </a:p>
                  </a:txBody>
                  <a:tcPr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FFFFFF"/>
                          </a:solidFill>
                        </a:defRPr>
                      </a:pPr>
                      <a:r>
                        <a:rPr lang="ru-RU" dirty="0"/>
                        <a:t>Нет</a:t>
                      </a:r>
                      <a:endParaRPr dirty="0"/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lang="ru-RU" dirty="0"/>
                        <a:t>С</a:t>
                      </a:r>
                      <a:r>
                        <a:rPr dirty="0" err="1"/>
                        <a:t>криншоты</a:t>
                      </a:r>
                      <a:endParaRPr dirty="0"/>
                    </a:p>
                  </a:txBody>
                  <a:tcPr>
                    <a:solidFill>
                      <a:srgbClr val="28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FFFFFF"/>
                          </a:solidFill>
                        </a:defRPr>
                      </a:pPr>
                      <a:r>
                        <a:rPr lang="ru-RU" dirty="0"/>
                        <a:t>Размер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контекст</a:t>
                      </a:r>
                      <a:r>
                        <a:rPr lang="ru-RU" dirty="0" err="1"/>
                        <a:t>ного</a:t>
                      </a:r>
                      <a:r>
                        <a:rPr lang="ru-RU" dirty="0"/>
                        <a:t> окна (в токенах)</a:t>
                      </a:r>
                      <a:endParaRPr dirty="0"/>
                    </a:p>
                  </a:txBody>
                  <a:tcPr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FFFFFF"/>
                          </a:solidFill>
                        </a:defRPr>
                      </a:pPr>
                      <a:r>
                        <a:rPr lang="ru-RU" dirty="0"/>
                        <a:t>128 000</a:t>
                      </a:r>
                      <a:endParaRPr dirty="0"/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dirty="0"/>
                        <a:t>1 000 000</a:t>
                      </a:r>
                      <a:endParaRPr dirty="0"/>
                    </a:p>
                  </a:txBody>
                  <a:tcPr>
                    <a:solidFill>
                      <a:srgbClr val="28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0" y="57607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00FF99"/>
                </a:solidFill>
              </a:defRPr>
            </a:pPr>
            <a:r>
              <a:t>Вердикт: Gemini 3.0 — наиболее стабильная база для автономного мультиагентного конвейера.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758098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rPr dirty="0"/>
              <a:t>RUNTIM</a:t>
            </a:r>
            <a:r>
              <a:rPr lang="en-US" dirty="0"/>
              <a:t>E-</a:t>
            </a:r>
            <a:r>
              <a:rPr lang="ru-RU" dirty="0"/>
              <a:t>САМОМОДИФИКАЦИИ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4114800" cy="3200400"/>
          </a:xfrm>
          <a:prstGeom prst="rect">
            <a:avLst/>
          </a:prstGeom>
          <a:solidFill>
            <a:srgbClr val="191919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3749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46464"/>
                </a:solidFill>
              </a:defRPr>
            </a:pPr>
            <a:r>
              <a:t>ИСХОДНОЕ ЯДРО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1828800"/>
            <a:ext cx="4114800" cy="3200400"/>
          </a:xfrm>
          <a:prstGeom prst="rect">
            <a:avLst/>
          </a:prstGeom>
          <a:solidFill>
            <a:srgbClr val="191919"/>
          </a:solidFill>
          <a:ln w="1905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0" y="1920240"/>
            <a:ext cx="3749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99FF"/>
                </a:solidFill>
              </a:defRPr>
            </a:pPr>
            <a:r>
              <a:t>АДАПТИРОВАННОЕ ЯДРО</a:t>
            </a:r>
          </a:p>
        </p:txBody>
      </p:sp>
      <p:sp>
        <p:nvSpPr>
          <p:cNvPr id="7" name="Hexagon 6"/>
          <p:cNvSpPr/>
          <p:nvPr/>
        </p:nvSpPr>
        <p:spPr>
          <a:xfrm>
            <a:off x="5120640" y="2926080"/>
            <a:ext cx="2011680" cy="1371600"/>
          </a:xfrm>
          <a:prstGeom prst="hexagon">
            <a:avLst/>
          </a:prstGeom>
          <a:solidFill>
            <a:srgbClr val="003366"/>
          </a:solidFill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rPr dirty="0"/>
              <a:t>LLM CORE</a:t>
            </a:r>
          </a:p>
          <a:p>
            <a:r>
              <a:rPr dirty="0"/>
              <a:t>ANALYSIS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663440" y="3383280"/>
            <a:ext cx="457200" cy="365760"/>
          </a:xfrm>
          <a:prstGeom prst="rightArrow">
            <a:avLst/>
          </a:prstGeom>
          <a:solidFill>
            <a:srgbClr val="0099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7132320" y="3383280"/>
            <a:ext cx="457200" cy="365760"/>
          </a:xfrm>
          <a:prstGeom prst="rightArrow">
            <a:avLst/>
          </a:prstGeom>
          <a:solidFill>
            <a:srgbClr val="0099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Агент анализирует структуру класса Chat и переписывает свои методы прямо в памяти.</a:t>
            </a:r>
            <a:br/>
            <a:r>
              <a:t>Результат: расширение функционала без перезагрузки системы.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C21522C-A3E8-95F8-1118-59BF0A4CB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787" y="2926080"/>
            <a:ext cx="4114799" cy="1371472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9233358-FC6A-FDDF-7E8F-D013E6BBA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19" y="3168073"/>
            <a:ext cx="4089001" cy="11294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ИНТЕРФЕЙС И ПРЕСЕТЫ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1645920"/>
            <a:ext cx="5760720" cy="4572000"/>
          </a:xfrm>
          <a:prstGeom prst="rect">
            <a:avLst/>
          </a:prstGeom>
          <a:solidFill>
            <a:srgbClr val="141414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646464"/>
                </a:solidFill>
              </a:defRPr>
            </a:pP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2560320" cy="4572000"/>
          </a:xfrm>
          <a:prstGeom prst="rect">
            <a:avLst/>
          </a:prstGeom>
          <a:solidFill>
            <a:srgbClr val="191919"/>
          </a:solidFill>
          <a:ln w="25400">
            <a:solidFill>
              <a:srgbClr val="CC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2377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C0066"/>
                </a:solidFill>
              </a:defRPr>
            </a:pPr>
            <a:r>
              <a:t>ПРЕСЕТЫ РОЛЕЙ</a:t>
            </a:r>
          </a:p>
          <a:p>
            <a:pPr>
              <a:spcBef>
                <a:spcPts val="800"/>
              </a:spcBef>
              <a:defRPr sz="1400">
                <a:solidFill>
                  <a:srgbClr val="C8C8C8"/>
                </a:solidFill>
              </a:defRPr>
            </a:pPr>
            <a:r>
              <a:t>• Разработчик</a:t>
            </a:r>
          </a:p>
          <a:p>
            <a:pPr>
              <a:spcBef>
                <a:spcPts val="800"/>
              </a:spcBef>
              <a:defRPr sz="1400">
                <a:solidFill>
                  <a:srgbClr val="C8C8C8"/>
                </a:solidFill>
              </a:defRPr>
            </a:pPr>
            <a:r>
              <a:t>• Архитектор</a:t>
            </a:r>
          </a:p>
          <a:p>
            <a:pPr>
              <a:spcBef>
                <a:spcPts val="800"/>
              </a:spcBef>
              <a:defRPr sz="1400">
                <a:solidFill>
                  <a:srgbClr val="C8C8C8"/>
                </a:solidFill>
              </a:defRPr>
            </a:pPr>
            <a:r>
              <a:t>• Ревьюер</a:t>
            </a:r>
          </a:p>
          <a:p>
            <a:pPr>
              <a:spcBef>
                <a:spcPts val="800"/>
              </a:spcBef>
              <a:defRPr sz="1400">
                <a:solidFill>
                  <a:srgbClr val="C8C8C8"/>
                </a:solidFill>
              </a:defRPr>
            </a:pPr>
            <a:r>
              <a:t>• Безопасный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0" y="1645920"/>
            <a:ext cx="2560320" cy="4572000"/>
          </a:xfrm>
          <a:prstGeom prst="rect">
            <a:avLst/>
          </a:prstGeom>
          <a:solidFill>
            <a:srgbClr val="191919"/>
          </a:solidFill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235440" y="1828800"/>
            <a:ext cx="2377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99FF"/>
                </a:solidFill>
              </a:defRPr>
            </a:pPr>
            <a:r>
              <a:t>УПРАВЛЕНИЕ</a:t>
            </a:r>
          </a:p>
          <a:p>
            <a:pPr>
              <a:spcBef>
                <a:spcPts val="800"/>
              </a:spcBef>
              <a:defRPr sz="1400">
                <a:solidFill>
                  <a:srgbClr val="C8C8C8"/>
                </a:solidFill>
              </a:defRPr>
            </a:pPr>
            <a:r>
              <a:t>• Параметры</a:t>
            </a:r>
          </a:p>
          <a:p>
            <a:pPr>
              <a:spcBef>
                <a:spcPts val="800"/>
              </a:spcBef>
              <a:defRPr sz="1400">
                <a:solidFill>
                  <a:srgbClr val="C8C8C8"/>
                </a:solidFill>
              </a:defRPr>
            </a:pPr>
            <a:r>
              <a:t>• Команды</a:t>
            </a:r>
          </a:p>
          <a:p>
            <a:pPr>
              <a:spcBef>
                <a:spcPts val="800"/>
              </a:spcBef>
              <a:defRPr sz="1400">
                <a:solidFill>
                  <a:srgbClr val="C8C8C8"/>
                </a:solidFill>
              </a:defRPr>
            </a:pPr>
            <a:r>
              <a:t>• Сбор контекста</a:t>
            </a:r>
          </a:p>
          <a:p>
            <a:pPr>
              <a:spcBef>
                <a:spcPts val="800"/>
              </a:spcBef>
              <a:defRPr sz="1400">
                <a:solidFill>
                  <a:srgbClr val="C8C8C8"/>
                </a:solidFill>
              </a:defRPr>
            </a:pPr>
            <a:r>
              <a:t>• Выбор модели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6309360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B4B4B4"/>
                </a:solidFill>
              </a:defRPr>
            </a:pPr>
            <a:r>
              <a:t>Offline-ready: интерфейс работает без внешних зависимостей.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92973CE-7742-ED6E-F683-966A9A289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9" y="1645919"/>
            <a:ext cx="5760720" cy="273318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5FFB5D0-7360-4B2D-C82A-5C45074E6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3916218"/>
            <a:ext cx="1267605" cy="2301702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262C2C9-BE9E-8190-8D4D-39522301F3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5285" y="3851451"/>
            <a:ext cx="1277475" cy="236647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D6BB5356-FB5E-510F-4663-F7662426E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4901" y="3851450"/>
            <a:ext cx="1285554" cy="2366469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A5BD4345-73E7-C307-F096-D8BE8CBA50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1269" y="3916218"/>
            <a:ext cx="1237228" cy="2301701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A7E589A9-571B-180D-D387-B76B0F88C3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2266" y="4876800"/>
            <a:ext cx="5716932" cy="13411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55A6FB-230B-C7C5-F045-B31B0A349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F3244A06-8BF1-7AED-623F-892DBC3CB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5419" y="-81023"/>
            <a:ext cx="12489811" cy="700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8511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rPr dirty="0"/>
              <a:t>ИНТЕРАКТИВНЫЕ HTML-ВСТАВКИ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11BC4EE-DE99-3ED7-EC01-3B0596957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2344"/>
            <a:ext cx="12192000" cy="3169237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005B04A-9299-B4EC-0CA1-93A8299D3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91989"/>
            <a:ext cx="12192000" cy="19660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31753D-96FD-9E74-AFAB-A83B13850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D19122-F0A1-9FC5-DDD8-5D39DE865DEA}"/>
              </a:ext>
            </a:extLst>
          </p:cNvPr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rPr dirty="0"/>
              <a:t>ИНТЕРАКТИВНЫЕ HTML-ВСТАВКИ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0B7EA88-B22D-4E8B-0BCF-C5EFCDBC8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186561"/>
            <a:ext cx="9534648" cy="216745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3AABDEC-21DD-3C3B-A182-04A37C340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0618" y="3354013"/>
            <a:ext cx="9901381" cy="350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771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F7BAD8-4F59-0188-505A-0673DB4CB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A0C626-445B-5F46-C300-D344FD4EB039}"/>
              </a:ext>
            </a:extLst>
          </p:cNvPr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rPr dirty="0"/>
              <a:t>ИНТЕРАКТИВНЫЕ HTML-ВСТАВКИ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3B201C8-9593-E9B1-8A59-B70A747FC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7806"/>
            <a:ext cx="12192000" cy="5780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0595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БЕЗОПАСНОСТЬ: ACL INTERSECTION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743200"/>
            <a:ext cx="2011680" cy="1097280"/>
          </a:xfrm>
          <a:prstGeom prst="rect">
            <a:avLst/>
          </a:prstGeom>
          <a:solidFill>
            <a:srgbClr val="1E1E1E"/>
          </a:solidFill>
          <a:ln w="1270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rPr dirty="0"/>
              <a:t>ЗАПРОС</a:t>
            </a:r>
            <a:r>
              <a:rPr lang="en-US" dirty="0"/>
              <a:t> </a:t>
            </a:r>
            <a:r>
              <a:rPr dirty="0"/>
              <a:t>АГЕНТА</a:t>
            </a:r>
          </a:p>
        </p:txBody>
      </p:sp>
      <p:sp>
        <p:nvSpPr>
          <p:cNvPr id="4" name="Trapezoid 3"/>
          <p:cNvSpPr/>
          <p:nvPr/>
        </p:nvSpPr>
        <p:spPr>
          <a:xfrm rot="5400000">
            <a:off x="3200400" y="2286000"/>
            <a:ext cx="1828800" cy="2011680"/>
          </a:xfrm>
          <a:prstGeom prst="trapezoid">
            <a:avLst/>
          </a:prstGeom>
          <a:solidFill>
            <a:srgbClr val="003366"/>
          </a:solidFill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0" y="292608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ACL РЕЖИМА</a:t>
            </a:r>
          </a:p>
        </p:txBody>
      </p:sp>
      <p:sp>
        <p:nvSpPr>
          <p:cNvPr id="6" name="Trapezoid 5"/>
          <p:cNvSpPr/>
          <p:nvPr/>
        </p:nvSpPr>
        <p:spPr>
          <a:xfrm rot="5400000">
            <a:off x="5943600" y="2286000"/>
            <a:ext cx="1828800" cy="2011680"/>
          </a:xfrm>
          <a:prstGeom prst="trapezoid">
            <a:avLst/>
          </a:prstGeom>
          <a:solidFill>
            <a:srgbClr val="660033"/>
          </a:solidFill>
          <a:ln w="25400">
            <a:solidFill>
              <a:srgbClr val="FF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0" y="292608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ACL ПРЕСЕТА</a:t>
            </a:r>
          </a:p>
        </p:txBody>
      </p:sp>
      <p:sp>
        <p:nvSpPr>
          <p:cNvPr id="8" name="Hexagon 7"/>
          <p:cNvSpPr/>
          <p:nvPr/>
        </p:nvSpPr>
        <p:spPr>
          <a:xfrm>
            <a:off x="8961120" y="2743200"/>
            <a:ext cx="2377440" cy="1097280"/>
          </a:xfrm>
          <a:prstGeom prst="hexagon">
            <a:avLst/>
          </a:prstGeom>
          <a:solidFill>
            <a:srgbClr val="005028"/>
          </a:solidFill>
          <a:ln w="25400"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БЕЗОПАСНЫЙ</a:t>
            </a:r>
          </a:p>
          <a:p>
            <a:r>
              <a:t>ЗАПУСК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68880" y="3108960"/>
            <a:ext cx="731520" cy="365760"/>
          </a:xfrm>
          <a:prstGeom prst="rightArrow">
            <a:avLst/>
          </a:prstGeom>
          <a:solidFill>
            <a:srgbClr val="505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5029200" y="3108960"/>
            <a:ext cx="914400" cy="365760"/>
          </a:xfrm>
          <a:prstGeom prst="rightArrow">
            <a:avLst/>
          </a:prstGeom>
          <a:solidFill>
            <a:srgbClr val="505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7772400" y="3108960"/>
            <a:ext cx="1188720" cy="365760"/>
          </a:xfrm>
          <a:prstGeom prst="rightArrow">
            <a:avLst/>
          </a:prstGeom>
          <a:solidFill>
            <a:srgbClr val="5050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4572000"/>
            <a:ext cx="11247120" cy="1463040"/>
          </a:xfrm>
          <a:prstGeom prst="rect">
            <a:avLst/>
          </a:prstGeom>
          <a:solidFill>
            <a:srgbClr val="19191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CC00"/>
                </a:solidFill>
              </a:defRPr>
            </a:pPr>
            <a:r>
              <a:t>ОБЪЕКТЫ ЗАЩИТЫ:</a:t>
            </a:r>
          </a:p>
          <a:p>
            <a:pPr>
              <a:spcBef>
                <a:spcPts val="500"/>
              </a:spcBef>
              <a:defRPr sz="1600">
                <a:solidFill>
                  <a:srgbClr val="C8C8C8"/>
                </a:solidFill>
              </a:defRPr>
            </a:pPr>
            <a:r>
              <a:t>• Ключи API и конфигурации (keys/)</a:t>
            </a:r>
          </a:p>
          <a:p>
            <a:pPr>
              <a:spcBef>
                <a:spcPts val="500"/>
              </a:spcBef>
              <a:defRPr sz="1600">
                <a:solidFill>
                  <a:srgbClr val="C8C8C8"/>
                </a:solidFill>
              </a:defRPr>
            </a:pPr>
            <a:r>
              <a:t>• Ядро системы (agent.py, start.py)</a:t>
            </a:r>
          </a:p>
          <a:p>
            <a:pPr>
              <a:spcBef>
                <a:spcPts val="500"/>
              </a:spcBef>
              <a:defRPr sz="1600">
                <a:solidFill>
                  <a:srgbClr val="C8C8C8"/>
                </a:solidFill>
              </a:defRPr>
            </a:pPr>
            <a:r>
              <a:t>• Системные директории (.git, .venv, .pytest_cache)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969696"/>
                </a:solidFill>
              </a:defRPr>
            </a:pPr>
            <a:r>
              <a:rPr dirty="0" err="1"/>
              <a:t>Безопасная</a:t>
            </a:r>
            <a:r>
              <a:rPr dirty="0"/>
              <a:t> </a:t>
            </a:r>
            <a:r>
              <a:rPr dirty="0" err="1"/>
              <a:t>самомодификация</a:t>
            </a:r>
            <a:r>
              <a:rPr dirty="0"/>
              <a:t> </a:t>
            </a:r>
            <a:r>
              <a:rPr dirty="0" err="1"/>
              <a:t>невозможна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строгого</a:t>
            </a:r>
            <a:r>
              <a:rPr dirty="0"/>
              <a:t> </a:t>
            </a:r>
            <a:r>
              <a:rPr dirty="0" err="1"/>
              <a:t>иерархического</a:t>
            </a:r>
            <a:r>
              <a:rPr dirty="0"/>
              <a:t> </a:t>
            </a:r>
            <a:r>
              <a:rPr dirty="0" err="1"/>
              <a:t>контроля</a:t>
            </a:r>
            <a:r>
              <a:rPr dirty="0"/>
              <a:t> </a:t>
            </a:r>
            <a:r>
              <a:rPr dirty="0" err="1"/>
              <a:t>прав</a:t>
            </a:r>
            <a:r>
              <a:rPr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ПЕРСОНАЛИЗАЦИЯ И ПАМЯТЬ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286000"/>
            <a:ext cx="2560320" cy="1097280"/>
          </a:xfrm>
          <a:prstGeom prst="rect">
            <a:avLst/>
          </a:prstGeom>
          <a:solidFill>
            <a:srgbClr val="1E1E1E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dirty="0"/>
              <a:t>ВВОД</a:t>
            </a:r>
            <a:r>
              <a:rPr lang="en-US" dirty="0"/>
              <a:t> </a:t>
            </a:r>
            <a:r>
              <a:rPr dirty="0"/>
              <a:t>ПОЛЬЗОВАТЕЛЯ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1920" y="2286000"/>
            <a:ext cx="2560320" cy="10972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dirty="0"/>
              <a:t>ИИ-АНАЛИЗ</a:t>
            </a:r>
            <a:r>
              <a:rPr lang="en-US" dirty="0"/>
              <a:t> </a:t>
            </a:r>
            <a:r>
              <a:rPr dirty="0"/>
              <a:t>КОНТЕКСТА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406640" y="2286000"/>
            <a:ext cx="2560320" cy="1097280"/>
          </a:xfrm>
          <a:prstGeom prst="rect">
            <a:avLst/>
          </a:prstGeom>
          <a:solidFill>
            <a:srgbClr val="1E1E1E"/>
          </a:solidFill>
          <a:ln w="25400">
            <a:solidFill>
              <a:srgbClr val="FF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USER_PROFILE</a:t>
            </a:r>
          </a:p>
          <a:p>
            <a:r>
              <a:t>(Долгосрочная память)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108960" y="2651760"/>
            <a:ext cx="731520" cy="365760"/>
          </a:xfrm>
          <a:prstGeom prst="rightArrow">
            <a:avLst/>
          </a:prstGeom>
          <a:solidFill>
            <a:srgbClr val="6464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ight Arrow 6"/>
          <p:cNvSpPr/>
          <p:nvPr/>
        </p:nvSpPr>
        <p:spPr>
          <a:xfrm>
            <a:off x="6583680" y="2651760"/>
            <a:ext cx="731520" cy="365760"/>
          </a:xfrm>
          <a:prstGeom prst="rightArrow">
            <a:avLst/>
          </a:prstGeom>
          <a:solidFill>
            <a:srgbClr val="6464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3840480"/>
            <a:ext cx="10515600" cy="2011680"/>
          </a:xfrm>
          <a:prstGeom prst="roundRect">
            <a:avLst/>
          </a:prstGeom>
          <a:solidFill>
            <a:srgbClr val="191919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000"/>
              </a:spcBef>
              <a:defRPr sz="1800">
                <a:solidFill>
                  <a:srgbClr val="C8C8C8"/>
                </a:solidFill>
              </a:defRPr>
            </a:pPr>
            <a:r>
              <a:t>✔ Личные предпочтения и стиль взаимодействия</a:t>
            </a:r>
          </a:p>
          <a:p>
            <a:pPr>
              <a:spcBef>
                <a:spcPts val="1000"/>
              </a:spcBef>
              <a:defRPr sz="1800">
                <a:solidFill>
                  <a:srgbClr val="C8C8C8"/>
                </a:solidFill>
              </a:defRPr>
            </a:pPr>
            <a:r>
              <a:t>✔ Постоянные инструкции и правила (коммиты, форматирование)</a:t>
            </a:r>
          </a:p>
          <a:p>
            <a:pPr>
              <a:spcBef>
                <a:spcPts val="1000"/>
              </a:spcBef>
              <a:defRPr sz="1800">
                <a:solidFill>
                  <a:srgbClr val="C8C8C8"/>
                </a:solidFill>
              </a:defRPr>
            </a:pPr>
            <a:r>
              <a:t>✔ Профессиональный контекст (текущие проекты, стек технологий)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969696"/>
                </a:solidFill>
              </a:defRPr>
            </a:pPr>
            <a:r>
              <a:t>Обеспечение непрерывности контекста между сессиями и задачами.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64736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rPr dirty="0"/>
              <a:t>ИНСТРУМЕНТЫ </a:t>
            </a:r>
            <a:r>
              <a:rPr lang="ru-RU" dirty="0"/>
              <a:t>ВЗАИМОДЕЙСТВИЯ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5486400" cy="4114800"/>
          </a:xfrm>
          <a:prstGeom prst="rect">
            <a:avLst/>
          </a:prstGeom>
          <a:solidFill>
            <a:srgbClr val="191919"/>
          </a:solidFill>
          <a:ln w="25400">
            <a:solidFill>
              <a:srgbClr val="66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4937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66CCFF"/>
                </a:solidFill>
              </a:defRPr>
            </a:pPr>
            <a:r>
              <a:t>BROWSER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4572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1200"/>
              </a:spcBef>
              <a:defRPr sz="2000">
                <a:solidFill>
                  <a:srgbClr val="DCDCDC"/>
                </a:solidFill>
              </a:defRPr>
            </a:pPr>
            <a:r>
              <a:t>• Автономная навигация</a:t>
            </a:r>
          </a:p>
          <a:p>
            <a:pPr>
              <a:spcBef>
                <a:spcPts val="1200"/>
              </a:spcBef>
              <a:defRPr sz="2000">
                <a:solidFill>
                  <a:srgbClr val="DCDCDC"/>
                </a:solidFill>
              </a:defRPr>
            </a:pPr>
            <a:r>
              <a:t>• Взаимодействие с веб-DOM</a:t>
            </a:r>
          </a:p>
          <a:p>
            <a:pPr>
              <a:spcBef>
                <a:spcPts val="1200"/>
              </a:spcBef>
              <a:defRPr sz="2000">
                <a:solidFill>
                  <a:srgbClr val="DCDCDC"/>
                </a:solidFill>
              </a:defRPr>
            </a:pPr>
            <a:r>
              <a:t>• Извлечение данных (Scraping)</a:t>
            </a:r>
          </a:p>
          <a:p>
            <a:pPr>
              <a:spcBef>
                <a:spcPts val="1200"/>
              </a:spcBef>
              <a:defRPr sz="2000">
                <a:solidFill>
                  <a:srgbClr val="DCDCDC"/>
                </a:solidFill>
              </a:defRPr>
            </a:pPr>
            <a:r>
              <a:t>• Заполнение веб-форм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486400" cy="4114800"/>
          </a:xfrm>
          <a:prstGeom prst="rect">
            <a:avLst/>
          </a:prstGeom>
          <a:solidFill>
            <a:srgbClr val="191919"/>
          </a:solidFill>
          <a:ln w="25400">
            <a:solidFill>
              <a:srgbClr val="99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937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9966FF"/>
                </a:solidFill>
              </a:defRPr>
            </a:pPr>
            <a:r>
              <a:t>COMPUTER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834640"/>
            <a:ext cx="4572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DCDCDC"/>
                </a:solidFill>
              </a:defRPr>
            </a:pPr>
            <a:r>
              <a:rPr dirty="0"/>
              <a:t>• </a:t>
            </a: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курсором</a:t>
            </a:r>
            <a:r>
              <a:rPr dirty="0"/>
              <a:t> и </a:t>
            </a:r>
            <a:r>
              <a:rPr dirty="0" err="1"/>
              <a:t>вводом</a:t>
            </a:r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DCDCDC"/>
                </a:solidFill>
              </a:defRPr>
            </a:pPr>
            <a:r>
              <a:rPr dirty="0"/>
              <a:t>• </a:t>
            </a:r>
            <a:r>
              <a:rPr dirty="0" err="1"/>
              <a:t>Анализ</a:t>
            </a:r>
            <a:r>
              <a:rPr dirty="0"/>
              <a:t> </a:t>
            </a:r>
            <a:r>
              <a:rPr dirty="0" err="1"/>
              <a:t>скриншотов</a:t>
            </a:r>
            <a:r>
              <a:rPr dirty="0"/>
              <a:t> </a:t>
            </a:r>
            <a:r>
              <a:rPr dirty="0" err="1"/>
              <a:t>рабочего</a:t>
            </a:r>
            <a:r>
              <a:rPr dirty="0"/>
              <a:t> </a:t>
            </a:r>
            <a:r>
              <a:rPr dirty="0" err="1"/>
              <a:t>стола</a:t>
            </a:r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DCDCDC"/>
                </a:solidFill>
              </a:defRPr>
            </a:pPr>
            <a:r>
              <a:rPr dirty="0"/>
              <a:t>• </a:t>
            </a:r>
            <a:r>
              <a:rPr dirty="0" err="1"/>
              <a:t>Взаимодействие</a:t>
            </a:r>
            <a:r>
              <a:rPr dirty="0"/>
              <a:t> с </a:t>
            </a:r>
            <a:r>
              <a:rPr dirty="0" err="1"/>
              <a:t>WinAPI</a:t>
            </a:r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DCDCDC"/>
                </a:solidFill>
              </a:defRPr>
            </a:pPr>
            <a:r>
              <a:rPr dirty="0"/>
              <a:t>• </a:t>
            </a:r>
            <a:r>
              <a:rPr dirty="0" err="1"/>
              <a:t>Запуск</a:t>
            </a:r>
            <a:r>
              <a:rPr dirty="0"/>
              <a:t> </a:t>
            </a:r>
            <a:r>
              <a:rPr dirty="0" err="1"/>
              <a:t>системных</a:t>
            </a:r>
            <a:r>
              <a:rPr dirty="0"/>
              <a:t> </a:t>
            </a:r>
            <a:r>
              <a:rPr dirty="0" err="1"/>
              <a:t>утилит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rPr dirty="0"/>
              <a:t>МУЛЬТИАГЕНТНЫЙ КОНВЕЙЕР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3657600" cy="4114800"/>
          </a:xfrm>
          <a:prstGeom prst="rect">
            <a:avLst/>
          </a:prstGeom>
          <a:solidFill>
            <a:srgbClr val="191919"/>
          </a:solidFill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99FF"/>
                </a:solidFill>
              </a:defRPr>
            </a:pPr>
            <a:r>
              <a:rPr dirty="0"/>
              <a:t>АРХИТЕКТОР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1000"/>
              </a:spcBef>
              <a:defRPr sz="1800">
                <a:solidFill>
                  <a:srgbClr val="DCDCDC"/>
                </a:solidFill>
              </a:defRPr>
            </a:pPr>
            <a:r>
              <a:rPr dirty="0"/>
              <a:t>• </a:t>
            </a:r>
            <a:r>
              <a:rPr dirty="0" err="1"/>
              <a:t>Декомпозиция</a:t>
            </a:r>
            <a:r>
              <a:rPr dirty="0"/>
              <a:t> </a:t>
            </a:r>
            <a:r>
              <a:rPr dirty="0" err="1"/>
              <a:t>задач</a:t>
            </a:r>
            <a:endParaRPr dirty="0"/>
          </a:p>
          <a:p>
            <a:pPr>
              <a:spcBef>
                <a:spcPts val="1000"/>
              </a:spcBef>
              <a:defRPr sz="1800">
                <a:solidFill>
                  <a:srgbClr val="DCDCDC"/>
                </a:solidFill>
              </a:defRPr>
            </a:pPr>
            <a:r>
              <a:rPr dirty="0"/>
              <a:t>• </a:t>
            </a: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чатами</a:t>
            </a:r>
            <a:endParaRPr dirty="0"/>
          </a:p>
          <a:p>
            <a:pPr>
              <a:spcBef>
                <a:spcPts val="1000"/>
              </a:spcBef>
              <a:defRPr sz="1800">
                <a:solidFill>
                  <a:srgbClr val="DCDCDC"/>
                </a:solidFill>
              </a:defRPr>
            </a:pPr>
            <a:r>
              <a:rPr dirty="0"/>
              <a:t>• </a:t>
            </a:r>
            <a:r>
              <a:rPr dirty="0" err="1"/>
              <a:t>Финальный</a:t>
            </a:r>
            <a:r>
              <a:rPr dirty="0"/>
              <a:t> </a:t>
            </a:r>
            <a:r>
              <a:rPr dirty="0" err="1"/>
              <a:t>деплой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4297680" y="1828800"/>
            <a:ext cx="3657600" cy="4114800"/>
          </a:xfrm>
          <a:prstGeom prst="rect">
            <a:avLst/>
          </a:prstGeom>
          <a:solidFill>
            <a:srgbClr val="191919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80560" y="210312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ИСПОЛНИТЕЛЬ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3200400"/>
            <a:ext cx="2926080" cy="1179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1000"/>
              </a:spcBef>
              <a:defRPr sz="1800">
                <a:solidFill>
                  <a:srgbClr val="DCDCDC"/>
                </a:solidFill>
              </a:defRPr>
            </a:pPr>
            <a:r>
              <a:rPr dirty="0"/>
              <a:t>• </a:t>
            </a:r>
            <a:r>
              <a:rPr dirty="0" err="1"/>
              <a:t>Написание</a:t>
            </a:r>
            <a:r>
              <a:rPr dirty="0"/>
              <a:t> </a:t>
            </a:r>
            <a:r>
              <a:rPr dirty="0" err="1"/>
              <a:t>кода</a:t>
            </a:r>
            <a:endParaRPr dirty="0"/>
          </a:p>
          <a:p>
            <a:pPr>
              <a:spcBef>
                <a:spcPts val="1000"/>
              </a:spcBef>
              <a:defRPr sz="1800">
                <a:solidFill>
                  <a:srgbClr val="DCDCDC"/>
                </a:solidFill>
              </a:defRPr>
            </a:pPr>
            <a:r>
              <a:rPr dirty="0"/>
              <a:t>• </a:t>
            </a:r>
            <a:r>
              <a:rPr dirty="0" err="1"/>
              <a:t>Работа</a:t>
            </a:r>
            <a:r>
              <a:rPr dirty="0"/>
              <a:t> в Sandbox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828800"/>
            <a:ext cx="3657600" cy="4114800"/>
          </a:xfrm>
          <a:prstGeom prst="rect">
            <a:avLst/>
          </a:prstGeom>
          <a:solidFill>
            <a:srgbClr val="191919"/>
          </a:solidFill>
          <a:ln w="254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0" y="210312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6600"/>
                </a:solidFill>
              </a:defRPr>
            </a:pPr>
            <a:r>
              <a:t>РЕВЬЮЕР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200400"/>
            <a:ext cx="2926080" cy="1179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1000"/>
              </a:spcBef>
              <a:defRPr sz="1800">
                <a:solidFill>
                  <a:srgbClr val="DCDCDC"/>
                </a:solidFill>
              </a:defRPr>
            </a:pPr>
            <a:r>
              <a:rPr dirty="0"/>
              <a:t>• </a:t>
            </a:r>
            <a:r>
              <a:rPr dirty="0" err="1"/>
              <a:t>Аудит</a:t>
            </a:r>
            <a:r>
              <a:rPr dirty="0"/>
              <a:t> </a:t>
            </a:r>
            <a:r>
              <a:rPr dirty="0" err="1"/>
              <a:t>логики</a:t>
            </a:r>
            <a:endParaRPr dirty="0"/>
          </a:p>
          <a:p>
            <a:pPr>
              <a:spcBef>
                <a:spcPts val="1000"/>
              </a:spcBef>
              <a:defRPr sz="1800">
                <a:solidFill>
                  <a:srgbClr val="DCDCDC"/>
                </a:solidFill>
              </a:defRPr>
            </a:pPr>
            <a:r>
              <a:rPr dirty="0"/>
              <a:t>• </a:t>
            </a:r>
            <a:r>
              <a:rPr dirty="0" err="1"/>
              <a:t>Поиск</a:t>
            </a:r>
            <a:r>
              <a:rPr dirty="0"/>
              <a:t> </a:t>
            </a:r>
            <a:r>
              <a:rPr dirty="0" err="1"/>
              <a:t>уязвимостей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ИТОГИ И ВЕКТОР РАЗВИТИЯ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5486400" cy="3657600"/>
          </a:xfrm>
          <a:prstGeom prst="rect">
            <a:avLst/>
          </a:prstGeom>
          <a:solidFill>
            <a:srgbClr val="191919"/>
          </a:solidFill>
          <a:ln w="1270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99FF"/>
                </a:solidFill>
              </a:defRPr>
            </a:pPr>
            <a:r>
              <a:rPr dirty="0"/>
              <a:t>БУДУЩИЕ ЦЕЛИ:</a:t>
            </a:r>
          </a:p>
          <a:p>
            <a:pPr>
              <a:spcBef>
                <a:spcPts val="1200"/>
              </a:spcBef>
              <a:defRPr sz="1800">
                <a:solidFill>
                  <a:srgbClr val="C8C8C8"/>
                </a:solidFill>
              </a:defRPr>
            </a:pPr>
            <a:r>
              <a:rPr dirty="0"/>
              <a:t>• </a:t>
            </a:r>
            <a:r>
              <a:rPr dirty="0" err="1"/>
              <a:t>Автономный</a:t>
            </a:r>
            <a:r>
              <a:rPr dirty="0"/>
              <a:t> </a:t>
            </a:r>
            <a:r>
              <a:rPr dirty="0" err="1"/>
              <a:t>багфикс</a:t>
            </a:r>
            <a:r>
              <a:rPr dirty="0"/>
              <a:t> и </a:t>
            </a:r>
            <a:r>
              <a:rPr dirty="0" err="1"/>
              <a:t>глубокий</a:t>
            </a:r>
            <a:r>
              <a:rPr dirty="0"/>
              <a:t> </a:t>
            </a:r>
            <a:r>
              <a:rPr dirty="0" err="1"/>
              <a:t>рефакторинг</a:t>
            </a:r>
            <a:endParaRPr dirty="0"/>
          </a:p>
          <a:p>
            <a:pPr>
              <a:spcBef>
                <a:spcPts val="1200"/>
              </a:spcBef>
              <a:defRPr sz="1800">
                <a:solidFill>
                  <a:srgbClr val="C8C8C8"/>
                </a:solidFill>
              </a:defRPr>
            </a:pPr>
            <a:r>
              <a:rPr dirty="0"/>
              <a:t>• </a:t>
            </a:r>
            <a:r>
              <a:rPr dirty="0" err="1"/>
              <a:t>Расширение</a:t>
            </a:r>
            <a:r>
              <a:rPr dirty="0"/>
              <a:t> </a:t>
            </a:r>
            <a:r>
              <a:rPr dirty="0" err="1"/>
              <a:t>библиотеки</a:t>
            </a:r>
            <a:r>
              <a:rPr dirty="0"/>
              <a:t> HTML-</a:t>
            </a:r>
            <a:r>
              <a:rPr dirty="0" err="1"/>
              <a:t>виджетов</a:t>
            </a:r>
            <a:endParaRPr dirty="0"/>
          </a:p>
          <a:p>
            <a:pPr>
              <a:spcBef>
                <a:spcPts val="1200"/>
              </a:spcBef>
              <a:defRPr sz="1800">
                <a:solidFill>
                  <a:srgbClr val="C8C8C8"/>
                </a:solidFill>
              </a:defRPr>
            </a:pPr>
            <a:r>
              <a:rPr dirty="0"/>
              <a:t>• </a:t>
            </a:r>
            <a:r>
              <a:rPr dirty="0" err="1"/>
              <a:t>Создание</a:t>
            </a:r>
            <a:r>
              <a:rPr dirty="0"/>
              <a:t> </a:t>
            </a:r>
            <a:r>
              <a:rPr dirty="0" err="1"/>
              <a:t>по-настоящему</a:t>
            </a:r>
            <a:r>
              <a:rPr dirty="0"/>
              <a:t> </a:t>
            </a:r>
            <a:r>
              <a:rPr dirty="0" err="1"/>
              <a:t>самоэволюционирующего</a:t>
            </a:r>
            <a:r>
              <a:rPr dirty="0"/>
              <a:t> ПО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48402" y="1828800"/>
            <a:ext cx="5303520" cy="365760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/>
            </a:pPr>
            <a:r>
              <a:rPr dirty="0"/>
              <a:t>ПРОЕКТ НА GITHUB:</a:t>
            </a:r>
            <a:endParaRPr lang="en-US" dirty="0"/>
          </a:p>
          <a:p>
            <a:pPr algn="ctr">
              <a:defRPr sz="2000" b="1"/>
            </a:pPr>
            <a:endParaRPr lang="en-US" dirty="0"/>
          </a:p>
          <a:p>
            <a:pPr algn="ctr">
              <a:defRPr sz="2000" b="1"/>
            </a:pPr>
            <a:endParaRPr lang="en-US" dirty="0"/>
          </a:p>
          <a:p>
            <a:pPr algn="ctr">
              <a:defRPr sz="2000" b="1"/>
            </a:pPr>
            <a:endParaRPr lang="ru-RU" dirty="0"/>
          </a:p>
          <a:p>
            <a:pPr algn="ctr">
              <a:defRPr sz="2000" b="1"/>
            </a:pPr>
            <a:endParaRPr lang="ru-RU" dirty="0"/>
          </a:p>
          <a:p>
            <a:pPr algn="ctr">
              <a:defRPr sz="2000" b="1"/>
            </a:pPr>
            <a:endParaRPr lang="ru-RU" dirty="0"/>
          </a:p>
          <a:p>
            <a:pPr algn="ctr">
              <a:defRPr sz="2000" b="1"/>
            </a:pPr>
            <a:endParaRPr lang="en-US" dirty="0"/>
          </a:p>
          <a:p>
            <a:pPr algn="ctr">
              <a:defRPr sz="2000" b="1"/>
            </a:pPr>
            <a:endParaRPr lang="en-US" dirty="0"/>
          </a:p>
          <a:p>
            <a:pPr algn="ctr">
              <a:defRPr sz="2000" b="1"/>
            </a:pPr>
            <a:endParaRPr dirty="0"/>
          </a:p>
          <a:p>
            <a:pPr algn="ctr">
              <a:spcBef>
                <a:spcPts val="1000"/>
              </a:spcBef>
              <a:defRPr sz="1800">
                <a:solidFill>
                  <a:srgbClr val="0099FF"/>
                </a:solidFill>
              </a:defRPr>
            </a:pPr>
            <a:r>
              <a:rPr lang="en-US" dirty="0"/>
              <a:t>https://</a:t>
            </a:r>
            <a:r>
              <a:rPr dirty="0"/>
              <a:t>github.com/ilia202015/AgentAI</a:t>
            </a:r>
            <a:endParaRPr lang="ru-RU" dirty="0"/>
          </a:p>
          <a:p>
            <a:pPr algn="ctr">
              <a:spcBef>
                <a:spcPts val="1000"/>
              </a:spcBef>
              <a:defRPr sz="1800">
                <a:solidFill>
                  <a:srgbClr val="0099FF"/>
                </a:solidFill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57607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СПАСИБО ЗА ВНИМАНИЕ!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BCE386A-8BE7-0F58-510B-24AFB8D75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0764" y="2156459"/>
            <a:ext cx="2576139" cy="25761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433</Words>
  <Application>Microsoft Office PowerPoint</Application>
  <PresentationFormat>Широкоэкранный</PresentationFormat>
  <Paragraphs>119</Paragraphs>
  <Slides>15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илья ролдугин</cp:lastModifiedBy>
  <cp:revision>8</cp:revision>
  <dcterms:created xsi:type="dcterms:W3CDTF">2013-01-27T09:14:16Z</dcterms:created>
  <dcterms:modified xsi:type="dcterms:W3CDTF">2026-02-17T19:45:57Z</dcterms:modified>
  <cp:category/>
</cp:coreProperties>
</file>